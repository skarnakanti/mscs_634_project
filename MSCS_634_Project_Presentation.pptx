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4250-CB0C-A986-6492-EFA8E663E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5F6D7-9DF2-97B1-98C5-D77F283A6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6C5D2-3F30-0E60-3B1A-98E4EFD3F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B3977-7B14-0A9D-6ABF-E740F35F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570FA-F3CF-4563-D1CF-43D0F8EA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4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CC7D-08C3-A2EA-1920-123280A0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14AF-0305-99E6-4826-4E3E3B3DD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AA2B7-CF37-EA87-B2FF-13F80A25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330B4-B02F-7B29-84A7-0EEA0C69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B1C49-B123-E465-B3E5-758DAE8C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38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CC37-D8B2-A6DB-A495-B84BCA1D5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5071A-F555-8AAA-CA5A-F98444975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D319-0EDA-1403-0FCB-A32E2DBB9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EE405-715D-90CC-F391-09120D95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9D8D5-C456-24C9-D57B-A9770A7C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10B5-36CB-A815-2847-B1A9CB59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FF94F-DDE5-C4EB-A11C-AA3BF02E9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9E0C9-ABFC-E8DB-7424-45116FB7E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A6DEB-4321-A13C-AC1B-72BAD9245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112E9-D398-DA2D-5B73-A8C07FF1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BFE82-4D38-83C9-3856-B79C657E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3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FBE0-D2EA-AB4F-6A04-305DAED6F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78593-459D-FD98-028A-B28F262F0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F71E9-A065-7416-78DD-BF511BABE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2C3E2-7A6D-2219-DFBE-5E7B89675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3FE354-E8DF-BA81-BCE3-219570117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98BE3-BBD6-B656-DA5E-1DDEE8A6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2D057-5F34-B38E-A687-5CC36513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0E407-6D63-094A-DEF0-A1326EA8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5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BE760-BCE4-274A-2E62-183CFCC1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9D7D4-1070-2C9A-C72A-4507F8D0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57CDD-9152-2E5C-295F-F38E4540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D3C96-21AD-2D20-A39A-421AB2FF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1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0A2904-AD00-FAFE-5726-D43A372B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81BE2-FEC6-4041-F2E6-6F0C8C9E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E888F-DB1A-47DD-89B9-C38762DA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57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3C402-01EC-E0D1-84CD-39AA8B2C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BF80A-B983-5306-DAEB-D8F4542E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E6A85-0810-F46E-A652-287296AFD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362AF-693A-5570-30AA-3D730602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1BF2E-5DBC-38EF-4442-0991CA46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53071-1B0E-ED7A-B456-974A0758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39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0A90-2ED7-CF37-0956-3005D5D2A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34836B-0571-4E95-41DA-4BE8B1773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AB49D-D0BA-750B-A867-581E3D6B8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9AEBA-42EB-D5DB-E41D-6E7B4DC5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731D7-EACB-450F-D5CD-46589585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F0295-7304-EBA7-9323-2FA93737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76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5F4A-59B3-AB25-65C3-EF6BFACA6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DBB82-6D1E-E084-7477-CC6D11D36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2F31C-CA3B-F5DC-1236-96A99E52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8C319-4A20-40FA-0E8D-CA9F8298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868E3-4A09-BD05-DA12-DFB55FF7B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0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A19660-D04A-5776-C18D-60213FD43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B7421-9858-4B6F-2664-206B68DE8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E68EA-9016-05B8-2331-6B4E598E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9E27E-3B83-2790-2E4C-8C96490E5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77005-5155-297E-22AF-C6396F9D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1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2008D-C290-580B-E987-D3F36C634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D37F8-DD5B-2C06-26E6-E728769A3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BEC52-A665-2D5F-3F96-E90B8E6DC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AD959-3941-46E3-8182-6126BC63950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961F7-168C-B4E7-2787-33012BAB9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386D5-3ACF-9374-9FFB-A4479402C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FFA30-459B-448E-B07C-6E4867AF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4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3CECD-4E0F-6298-50FF-91494D580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5600"/>
              <a:t>Transforming Bank Marketing: Classification, Clustering, and Pattern Mining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23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6402E-FC6A-85FA-2CF6-7C1F7B468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300"/>
              <a:t>Project Overview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63960-E87B-05E6-C96D-59E567EA7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1800"/>
              <a:t>Direct marketing campaigns suffer from operational inefficiency.</a:t>
            </a:r>
          </a:p>
          <a:p>
            <a:r>
              <a:rPr lang="en-US" sz="1800"/>
              <a:t>High costs result from low conversion rates in telemarketing. </a:t>
            </a:r>
          </a:p>
          <a:p>
            <a:r>
              <a:rPr lang="en-US" sz="1800"/>
              <a:t>Goal is to predict customer term deposit subscriptions accurately. </a:t>
            </a:r>
          </a:p>
          <a:p>
            <a:r>
              <a:rPr lang="en-US" sz="1800"/>
              <a:t>Transitioning from generalized marketing to data-driven targeting strategies. </a:t>
            </a:r>
          </a:p>
          <a:p>
            <a:r>
              <a:rPr lang="en-US" sz="1800"/>
              <a:t>Improving resource allocation by identifying high-probability customer leads.</a:t>
            </a:r>
          </a:p>
        </p:txBody>
      </p:sp>
      <p:pic>
        <p:nvPicPr>
          <p:cNvPr id="5" name="Picture 4" descr="A group of yellow figures and a red figure on the other side">
            <a:extLst>
              <a:ext uri="{FF2B5EF4-FFF2-40B4-BE49-F238E27FC236}">
                <a16:creationId xmlns:a16="http://schemas.microsoft.com/office/drawing/2014/main" id="{5572082B-2A4E-4C71-F2FD-F906092977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92" r="4526" b="-1"/>
          <a:stretch>
            <a:fillRect/>
          </a:stretch>
        </p:blipFill>
        <p:spPr>
          <a:xfrm>
            <a:off x="6788383" y="613147"/>
            <a:ext cx="4565417" cy="559344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910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CFE2C-E479-5F87-F6A8-136D948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/>
              <a:t>Data Preparation &amp; 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BC5FF-4574-6A6B-3251-86D3D2CB3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294" y="1003111"/>
            <a:ext cx="5527453" cy="491740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Treated "unknown" categorical values as distinct informative categories. </a:t>
            </a:r>
          </a:p>
          <a:p>
            <a:r>
              <a:rPr lang="en-US" sz="2000" dirty="0"/>
              <a:t>Handled "999" in </a:t>
            </a:r>
            <a:r>
              <a:rPr lang="en-US" sz="2000" dirty="0" err="1"/>
              <a:t>pdays</a:t>
            </a:r>
            <a:r>
              <a:rPr lang="en-US" sz="2000" dirty="0"/>
              <a:t> as a binary missingness indicator. </a:t>
            </a:r>
          </a:p>
          <a:p>
            <a:r>
              <a:rPr lang="en-US" sz="2000" dirty="0"/>
              <a:t>Removed duration variable to prevent unrealistic predictive data leakage. </a:t>
            </a:r>
          </a:p>
          <a:p>
            <a:r>
              <a:rPr lang="en-US" sz="2000" dirty="0"/>
              <a:t>Applied One-Hot Encoding to transform categorical variables for modeling. </a:t>
            </a:r>
          </a:p>
          <a:p>
            <a:r>
              <a:rPr lang="en-US" sz="2000" dirty="0"/>
              <a:t>Binned Age and Campaign features to capture broad behavioral trends.</a:t>
            </a:r>
          </a:p>
        </p:txBody>
      </p:sp>
    </p:spTree>
    <p:extLst>
      <p:ext uri="{BB962C8B-B14F-4D97-AF65-F5344CB8AC3E}">
        <p14:creationId xmlns:p14="http://schemas.microsoft.com/office/powerpoint/2010/main" val="414631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CC3D4-20FB-28FE-3858-BF709859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371071" cy="1169585"/>
          </a:xfrm>
        </p:spPr>
        <p:txBody>
          <a:bodyPr anchor="b">
            <a:normAutofit/>
          </a:bodyPr>
          <a:lstStyle/>
          <a:p>
            <a:r>
              <a:rPr lang="en-US" sz="3700" dirty="0"/>
              <a:t>Supervised Learning: Model Selection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8FB21-D377-964C-0BDD-157F94FA9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/>
              <a:t>Transitioned from Regression to Classification for binary outcome prediction. </a:t>
            </a:r>
          </a:p>
          <a:p>
            <a:r>
              <a:rPr lang="en-US" sz="2000"/>
              <a:t>Implemented Decision Tree Classifier to establish a baseline for interpretability. </a:t>
            </a:r>
          </a:p>
          <a:p>
            <a:r>
              <a:rPr lang="en-US" sz="2000"/>
              <a:t>Utilized Random Forest Ensemble to reduce variance and prevent overfitting. </a:t>
            </a:r>
          </a:p>
          <a:p>
            <a:r>
              <a:rPr lang="en-US" sz="2000"/>
              <a:t>Applied class weighting to handle significant dataset class imbalance. </a:t>
            </a:r>
          </a:p>
          <a:p>
            <a:r>
              <a:rPr lang="en-US" sz="2000"/>
              <a:t>Used standardized preprocessing pipeline to ensure fair model comparison.</a:t>
            </a:r>
          </a:p>
        </p:txBody>
      </p:sp>
      <p:pic>
        <p:nvPicPr>
          <p:cNvPr id="5" name="Picture 4" descr="A blue and white graph&#10;&#10;AI-generated content may be incorrect.">
            <a:extLst>
              <a:ext uri="{FF2B5EF4-FFF2-40B4-BE49-F238E27FC236}">
                <a16:creationId xmlns:a16="http://schemas.microsoft.com/office/drawing/2014/main" id="{3B3AC33D-7A59-FABA-ECC5-828AE75B8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880" y="774285"/>
            <a:ext cx="3128694" cy="2581173"/>
          </a:xfrm>
          <a:prstGeom prst="rect">
            <a:avLst/>
          </a:prstGeom>
        </p:spPr>
      </p:pic>
      <p:pic>
        <p:nvPicPr>
          <p:cNvPr id="6" name="Picture 5" descr="A graph with a line and a point&#10;&#10;AI-generated content may be incorrect.">
            <a:extLst>
              <a:ext uri="{FF2B5EF4-FFF2-40B4-BE49-F238E27FC236}">
                <a16:creationId xmlns:a16="http://schemas.microsoft.com/office/drawing/2014/main" id="{A898A7FE-7FBD-79B0-B770-0472C983E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910" y="3575074"/>
            <a:ext cx="3186633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8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FD0CC-3B50-727A-24A1-05F92FFD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Hyperparameter Tuning &amp; Evaluation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CF707-292C-8588-4B1A-0C05026C4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Tuned hyperparameters using GridSearchCV to optimize model predictive performance.</a:t>
            </a:r>
          </a:p>
          <a:p>
            <a:r>
              <a:rPr lang="en-US" sz="2000"/>
              <a:t>Random Forest achieved a strong ROC-AUC score of 0.79. </a:t>
            </a:r>
          </a:p>
          <a:p>
            <a:r>
              <a:rPr lang="en-US" sz="2000"/>
              <a:t>Precision improved significantly compared to the baseline Decision Tree model. </a:t>
            </a:r>
          </a:p>
          <a:p>
            <a:r>
              <a:rPr lang="en-US" sz="2000"/>
              <a:t>Euribor interest rates identified as the dominant predictor of subscriptions. </a:t>
            </a:r>
          </a:p>
          <a:p>
            <a:r>
              <a:rPr lang="en-US" sz="2000"/>
              <a:t>Confusion matrix analysis demonstrates a reduction in false positive predictions.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AE9DEF1B-8B12-8092-BFFA-ABD0E4743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1450998"/>
            <a:ext cx="4397433" cy="78054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of a curve&#10;&#10;AI-generated content may be incorrect.">
            <a:extLst>
              <a:ext uri="{FF2B5EF4-FFF2-40B4-BE49-F238E27FC236}">
                <a16:creationId xmlns:a16="http://schemas.microsoft.com/office/drawing/2014/main" id="{002583EE-45ED-7903-FB06-CFF7E0080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420" y="3707894"/>
            <a:ext cx="3109575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1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28D2C-CC2B-D58A-7528-221331C2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/>
              <a:t>Unsupervised Learning: Customer Segmentation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1C5F4-811B-BB6B-2866-77349AAC0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 lnSpcReduction="10000"/>
          </a:bodyPr>
          <a:lstStyle/>
          <a:p>
            <a:r>
              <a:rPr lang="en-US" sz="1900"/>
              <a:t>Applied K-Means clustering to identify distinct customer personas within data. </a:t>
            </a:r>
          </a:p>
          <a:p>
            <a:r>
              <a:rPr lang="en-US" sz="1900"/>
              <a:t>Used Principal Component Analysis to visualize separation between clusters. </a:t>
            </a:r>
          </a:p>
          <a:p>
            <a:r>
              <a:rPr lang="en-US" sz="1900"/>
              <a:t>Identified "Cold Leads" characterized by no prior engagement history. </a:t>
            </a:r>
          </a:p>
          <a:p>
            <a:r>
              <a:rPr lang="en-US" sz="1900"/>
              <a:t>Characterized "Standard Clients" as the stable mass market demographic segment. </a:t>
            </a:r>
          </a:p>
          <a:p>
            <a:r>
              <a:rPr lang="en-US" sz="1900"/>
              <a:t>Discovered "High-Propensity" group highly sensitive to Euribor rate changes.</a:t>
            </a:r>
          </a:p>
        </p:txBody>
      </p:sp>
      <p:pic>
        <p:nvPicPr>
          <p:cNvPr id="5" name="Picture 4" descr="A diagram of a customer segmentation&#10;&#10;AI-generated content may be incorrect.">
            <a:extLst>
              <a:ext uri="{FF2B5EF4-FFF2-40B4-BE49-F238E27FC236}">
                <a16:creationId xmlns:a16="http://schemas.microsoft.com/office/drawing/2014/main" id="{59E2640D-B376-7C10-2E00-65D513F55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991" y="2484255"/>
            <a:ext cx="4657359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67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D4FCD-015B-09C5-FF3C-8A2763E6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en-US" sz="3200"/>
              <a:t>Association Rule Mining (Pattern Discovery)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and white screen&#10;&#10;AI-generated content may be incorrect.">
            <a:extLst>
              <a:ext uri="{FF2B5EF4-FFF2-40B4-BE49-F238E27FC236}">
                <a16:creationId xmlns:a16="http://schemas.microsoft.com/office/drawing/2014/main" id="{F7E087D4-F6B5-4860-B65E-E62187B55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" y="1455605"/>
            <a:ext cx="10369645" cy="16850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08911-C3BB-5C0C-1A3C-6A5FE7B94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en-US" sz="1100"/>
              <a:t>Deployed Apriori algorithm to uncover hidden categorical data relationships. </a:t>
            </a:r>
          </a:p>
          <a:p>
            <a:r>
              <a:rPr lang="en-US" sz="1100"/>
              <a:t>Found strong association between Technicians and Professional Course education levels. </a:t>
            </a:r>
          </a:p>
          <a:p>
            <a:r>
              <a:rPr lang="en-US" sz="1100"/>
              <a:t>Successful subscriptions are linked to low campaign contact frequency. </a:t>
            </a:r>
          </a:p>
          <a:p>
            <a:r>
              <a:rPr lang="en-US" sz="1100"/>
              <a:t>High call volume did not correlate with subscription success. </a:t>
            </a:r>
          </a:p>
          <a:p>
            <a:r>
              <a:rPr lang="en-US" sz="1100"/>
              <a:t>Retired status shows strong association with term deposit interest.</a:t>
            </a:r>
          </a:p>
        </p:txBody>
      </p:sp>
    </p:spTree>
    <p:extLst>
      <p:ext uri="{BB962C8B-B14F-4D97-AF65-F5344CB8AC3E}">
        <p14:creationId xmlns:p14="http://schemas.microsoft.com/office/powerpoint/2010/main" val="1495209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20055-C410-C9B0-EC37-A3A70F56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66367-8190-79CA-E34A-E5174F23D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/>
              <a:t>Prioritize re-engaging customers with successful previous campaign outcomes. </a:t>
            </a:r>
          </a:p>
          <a:p>
            <a:r>
              <a:rPr lang="en-US" sz="2200"/>
              <a:t>Adjust marketing spend dynamically based on Euribor interest rate fluctuations. </a:t>
            </a:r>
          </a:p>
          <a:p>
            <a:r>
              <a:rPr lang="en-US" sz="2200"/>
              <a:t>Implement a strict three-call cap to prevent customer fatigue. </a:t>
            </a:r>
          </a:p>
          <a:p>
            <a:r>
              <a:rPr lang="en-US" sz="2200"/>
              <a:t>Tailor specific messaging for the Technician and Professional demographic segments. </a:t>
            </a:r>
          </a:p>
          <a:p>
            <a:r>
              <a:rPr lang="en-US" sz="2200"/>
              <a:t>Focus aggressive acquisition strategies on Senior and Young demographics.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63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76377-FD52-7487-4B9E-2DBCC03BC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000"/>
              <a:t>Ethical Considerations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A25D7-E963-AF10-D7F3-86D34D41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709081"/>
            <a:ext cx="9849751" cy="322600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Ensure data privacy by encrypting sensitive customer information securely. </a:t>
            </a:r>
          </a:p>
          <a:p>
            <a:r>
              <a:rPr lang="en-US" sz="2000" dirty="0"/>
              <a:t>Monitor predictive models for algorithmic bias against specific demographics. </a:t>
            </a:r>
          </a:p>
          <a:p>
            <a:r>
              <a:rPr lang="en-US" sz="2000" dirty="0"/>
              <a:t>Provide explainability for decisions to comply with banking regulations. </a:t>
            </a:r>
          </a:p>
          <a:p>
            <a:r>
              <a:rPr lang="en-US" sz="2000" dirty="0"/>
              <a:t>Successful transformation from raw data to robust predictive framework achieved. </a:t>
            </a:r>
          </a:p>
          <a:p>
            <a:r>
              <a:rPr lang="en-US" sz="2000" dirty="0"/>
              <a:t>Project enables precise targeting to maximize marketing Return on Investment.</a:t>
            </a:r>
          </a:p>
        </p:txBody>
      </p:sp>
    </p:spTree>
    <p:extLst>
      <p:ext uri="{BB962C8B-B14F-4D97-AF65-F5344CB8AC3E}">
        <p14:creationId xmlns:p14="http://schemas.microsoft.com/office/powerpoint/2010/main" val="350985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465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Transforming Bank Marketing: Classification, Clustering, and Pattern Mining</vt:lpstr>
      <vt:lpstr>Project Overview &amp; Problem Statement</vt:lpstr>
      <vt:lpstr>Data Preparation &amp; Feature Engineering </vt:lpstr>
      <vt:lpstr>Supervised Learning: Model Selection</vt:lpstr>
      <vt:lpstr>Hyperparameter Tuning &amp; Evaluation</vt:lpstr>
      <vt:lpstr>Unsupervised Learning: Customer Segmentation</vt:lpstr>
      <vt:lpstr>Association Rule Mining (Pattern Discovery)</vt:lpstr>
      <vt:lpstr>Strategic Recommendations</vt:lpstr>
      <vt:lpstr>Ethical Considerations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katragadda, reshma</dc:creator>
  <cp:lastModifiedBy>katragadda, reshma</cp:lastModifiedBy>
  <cp:revision>1</cp:revision>
  <dcterms:created xsi:type="dcterms:W3CDTF">2025-12-12T16:33:35Z</dcterms:created>
  <dcterms:modified xsi:type="dcterms:W3CDTF">2025-12-12T16:49:58Z</dcterms:modified>
</cp:coreProperties>
</file>